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Work Sans Medium"/>
      <p:regular r:id="rId18"/>
      <p:bold r:id="rId19"/>
      <p:italic r:id="rId20"/>
      <p:boldItalic r:id="rId21"/>
    </p:embeddedFont>
    <p:embeddedFont>
      <p:font typeface="Work Sans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FtRNKjRZkVupp2uhgFz+CGncv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Medium-italic.fntdata"/><Relationship Id="rId22" Type="http://schemas.openxmlformats.org/officeDocument/2006/relationships/font" Target="fonts/WorkSansLight-regular.fntdata"/><Relationship Id="rId21" Type="http://schemas.openxmlformats.org/officeDocument/2006/relationships/font" Target="fonts/WorkSansMedium-boldItalic.fntdata"/><Relationship Id="rId24" Type="http://schemas.openxmlformats.org/officeDocument/2006/relationships/font" Target="fonts/WorkSansLight-italic.fntdata"/><Relationship Id="rId23" Type="http://schemas.openxmlformats.org/officeDocument/2006/relationships/font" Target="fonts/WorkSansLigh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WorkSans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WorkSansMedium-bold.fntdata"/><Relationship Id="rId18" Type="http://schemas.openxmlformats.org/officeDocument/2006/relationships/font" Target="fonts/Work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6" name="Google Shape;1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18" name="Google Shape;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cabezado de sección">
  <p:cSld name="1_Encabezado de sección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7833" y="317431"/>
            <a:ext cx="811391" cy="7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hyperlink" Target="http://drive.google.com/file/d/1D3334_I159TUfRmdaV4oVl_1GzXS_o13/view" TargetMode="External"/><Relationship Id="rId5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hyperlink" Target="https://docs.google.com/document/d/14bi5Di5P21oaj4p4VwTvuztFw58GtIF6/edit#heading=h.a3ya6pko70x" TargetMode="External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hyperlink" Target="https://drive.google.com/drive/folders/1dLMnaiJ0-08F-cBwbSTHY89-SFYl9C86?usp=drive_link" TargetMode="External"/><Relationship Id="rId5" Type="http://schemas.openxmlformats.org/officeDocument/2006/relationships/image" Target="../media/image13.png"/><Relationship Id="rId6" Type="http://schemas.openxmlformats.org/officeDocument/2006/relationships/hyperlink" Target="https://drive.google.com/drive/folders/1dLMnaiJ0-08F-cBwbSTHY89-SFYl9C86?usp=drive_link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hyperlink" Target="https://docs.google.com/document/d/1mdzLO2_qPOTvO7wsVzKdrwdA3sTPDccb/edit#heading=h.59j1pv92bfjs" TargetMode="External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/>
        </p:nvSpPr>
        <p:spPr>
          <a:xfrm>
            <a:off x="1071346" y="2632050"/>
            <a:ext cx="6545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Proyectos productivo </a:t>
            </a:r>
            <a:endParaRPr b="1" i="0" sz="4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Yesenia Montoya Silva</a:t>
            </a:r>
            <a:endParaRPr b="1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Eilin Jireth Martin Loaiza</a:t>
            </a:r>
            <a:endParaRPr b="1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Jade Valentina Cupitra Largo</a:t>
            </a:r>
            <a:endParaRPr b="1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Moises Agustin Stredel Berrocal</a:t>
            </a:r>
            <a:endParaRPr b="1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2734343" y="2228671"/>
            <a:ext cx="6723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PrintSmart 3D</a:t>
            </a:r>
            <a:endParaRPr b="1" i="0" sz="5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0" i="0" sz="72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cxnSp>
        <p:nvCxnSpPr>
          <p:cNvPr id="108" name="Google Shape;108;p2"/>
          <p:cNvCxnSpPr/>
          <p:nvPr/>
        </p:nvCxnSpPr>
        <p:spPr>
          <a:xfrm>
            <a:off x="5227899" y="3321934"/>
            <a:ext cx="1736203" cy="0"/>
          </a:xfrm>
          <a:prstGeom prst="straightConnector1">
            <a:avLst/>
          </a:prstGeom>
          <a:noFill/>
          <a:ln cap="flat" cmpd="sng" w="9525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p2"/>
          <p:cNvSpPr txBox="1"/>
          <p:nvPr/>
        </p:nvSpPr>
        <p:spPr>
          <a:xfrm>
            <a:off x="4168816" y="3463724"/>
            <a:ext cx="385436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inteligente para el análisis, gestión y optimización de costos en impresión 3D.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/>
        </p:nvSpPr>
        <p:spPr>
          <a:xfrm>
            <a:off x="305450" y="1704972"/>
            <a:ext cx="88815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n-US" sz="44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Planteamiento del problema</a:t>
            </a:r>
            <a:endParaRPr b="0" i="0" sz="4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373800" y="2637046"/>
            <a:ext cx="4447500" cy="26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Actualmente, en el emprendimiento PrintSmart 3D, el cálculo de costos de impresión se realiza de forma empírica, sin considerar variables como el consumo real de material, el tiempo de impresión, el gasto energético y el desgaste de los equipos.</a:t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Además, no se cuenta con un sistema organizado para el control de inventario de filamentos, lo que genera:</a:t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Pérdidas económicas</a:t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Falta de control del stock</a:t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Dificultad en la gestión de pedidos</a:t>
            </a:r>
            <a:endParaRPr b="0" i="0" sz="16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4">
            <a:alphaModFix/>
          </a:blip>
          <a:srcRect b="8925" l="4537" r="4719" t="0"/>
          <a:stretch/>
        </p:blipFill>
        <p:spPr>
          <a:xfrm>
            <a:off x="7791855" y="1657215"/>
            <a:ext cx="4005175" cy="4328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/>
        </p:nvSpPr>
        <p:spPr>
          <a:xfrm>
            <a:off x="956475" y="1935850"/>
            <a:ext cx="50049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n-US" sz="44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Pregunta problema</a:t>
            </a:r>
            <a:endParaRPr b="0" i="0" sz="4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1174441" y="2926122"/>
            <a:ext cx="4447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¿De qué manera se puede desarrollar un sistema de información que permita gestionar el control de inventario, calcular costos y optimizar los procesos de producción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 un negocio de impresión 3D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4" title="VID-20260304-WA0011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5000" y="1091175"/>
            <a:ext cx="5846996" cy="576681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/>
        </p:nvSpPr>
        <p:spPr>
          <a:xfrm>
            <a:off x="820827" y="2074435"/>
            <a:ext cx="46209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n-US" sz="44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0" i="0" sz="4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958768" y="2993800"/>
            <a:ext cx="3854400" cy="1567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una solución informática que permita gestionar el inventario de materiales, calcular los costos de producción y administrar los pedidos  de impresión 3D.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5264" y="1410511"/>
            <a:ext cx="6798123" cy="4036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/>
        </p:nvSpPr>
        <p:spPr>
          <a:xfrm>
            <a:off x="1031008" y="1159059"/>
            <a:ext cx="612855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n-US" sz="44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b="0" i="0" sz="4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1569990" y="2101142"/>
            <a:ext cx="4447500" cy="353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y administrar autenticación y control de acceso de usuarios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3873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Diseñar y estructurar el registro y control del inventario de materiales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Gestionar los pedidos de impresión 3D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Calcular los costos de producción de manera automática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Generar reportes de producción, costos e inventario.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specíficos :: Escuela de Valores EMFA" id="139" name="Google Shape;13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5719" y="1231641"/>
            <a:ext cx="4776306" cy="467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/>
        </p:nvSpPr>
        <p:spPr>
          <a:xfrm>
            <a:off x="407670" y="764540"/>
            <a:ext cx="3327400" cy="779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 1: Gestión de Usuarios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 de usuarios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Inicio de sesión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Cierre de sesión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Roles (Administrador / Operador)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 2: Inventario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Registrar filamentos (tipo, color, peso, precio)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Actualizar stock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de entradas y salidas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Alertas de bajo inventario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 3:  Pedidos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Registrar modelos 3D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pedidos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Asociar material al pedido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Estado del pedido (pendiente, en proceso, terminado)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7"/>
          <p:cNvPicPr preferRelativeResize="0"/>
          <p:nvPr/>
        </p:nvPicPr>
        <p:blipFill rotWithShape="1">
          <a:blip r:embed="rId3">
            <a:alphaModFix/>
          </a:blip>
          <a:srcRect b="6995" l="44735" r="0" t="-6995"/>
          <a:stretch/>
        </p:blipFill>
        <p:spPr>
          <a:xfrm>
            <a:off x="4439920" y="1124585"/>
            <a:ext cx="3034030" cy="368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7967980" y="1628775"/>
            <a:ext cx="3327400" cy="2964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 4: Cálculo de Costos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Cálculo automático basado en: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Material usado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Tiempo de impresión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Consumo energético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Generación de precio final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5: Reporte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Reporte de inventario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Reporte de costos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Reporte de producción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/>
        </p:nvSpPr>
        <p:spPr>
          <a:xfrm>
            <a:off x="1171198" y="1687456"/>
            <a:ext cx="5959813" cy="778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n-US" sz="44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Justificación</a:t>
            </a:r>
            <a:endParaRPr b="0" i="0" sz="4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879369" y="2615682"/>
            <a:ext cx="4334700" cy="2552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PrintSmart 3D permitirá optimizar la gestión del negocio mediante el control automatizado del inventario, el cálculo preciso de costos y la organización de los pedidos.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Esto reducirá pérdidas económicas, mejorará la toma de decisiones y aumentará la eficiencia operativa.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8"/>
          <p:cNvPicPr preferRelativeResize="0"/>
          <p:nvPr/>
        </p:nvPicPr>
        <p:blipFill rotWithShape="1">
          <a:blip r:embed="rId4">
            <a:alphaModFix/>
          </a:blip>
          <a:srcRect b="27302" l="25820" r="29188" t="11690"/>
          <a:stretch/>
        </p:blipFill>
        <p:spPr>
          <a:xfrm>
            <a:off x="6306206" y="2076855"/>
            <a:ext cx="5580007" cy="3385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9"/>
          <p:cNvPicPr preferRelativeResize="0"/>
          <p:nvPr/>
        </p:nvPicPr>
        <p:blipFill rotWithShape="1">
          <a:blip r:embed="rId4">
            <a:alphaModFix/>
          </a:blip>
          <a:srcRect b="7132" l="16436" r="35931" t="1058"/>
          <a:stretch/>
        </p:blipFill>
        <p:spPr>
          <a:xfrm>
            <a:off x="6145685" y="1242463"/>
            <a:ext cx="5619542" cy="48470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 txBox="1"/>
          <p:nvPr/>
        </p:nvSpPr>
        <p:spPr>
          <a:xfrm>
            <a:off x="594273" y="2065870"/>
            <a:ext cx="5959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n-US" sz="44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Alcance del proyecto</a:t>
            </a:r>
            <a:endParaRPr b="0" i="0" sz="4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923520" y="3127390"/>
            <a:ext cx="4093200" cy="1813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permitirá: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básica de usuarios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de inventario de materiales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 de pedidos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Cálculo automático de costos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Recolección de información</a:t>
            </a:r>
            <a:endParaRPr b="0" i="0" sz="4400" u="none" cap="none" strike="noStrike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911650" y="1730025"/>
            <a:ext cx="6143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Entrevista.docx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7875" y="1994377"/>
            <a:ext cx="4832451" cy="3221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/>
          <p:nvPr/>
        </p:nvSpPr>
        <p:spPr>
          <a:xfrm>
            <a:off x="456236" y="416689"/>
            <a:ext cx="105156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Diagrama BPMN</a:t>
            </a:r>
            <a:endParaRPr b="0" i="0" sz="4400" u="none" cap="none" strike="noStrike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74" name="Google Shape;174;p11">
            <a:hlinkClick r:id="rId4"/>
          </p:cNvPr>
          <p:cNvSpPr txBox="1"/>
          <p:nvPr/>
        </p:nvSpPr>
        <p:spPr>
          <a:xfrm>
            <a:off x="165775" y="1543550"/>
            <a:ext cx="6143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7575" y="1429046"/>
            <a:ext cx="4116550" cy="36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1"/>
          <p:cNvSpPr txBox="1"/>
          <p:nvPr/>
        </p:nvSpPr>
        <p:spPr>
          <a:xfrm>
            <a:off x="4288825" y="3190700"/>
            <a:ext cx="41853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839100" y="1491750"/>
            <a:ext cx="4668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Diagrama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"/>
          <p:cNvSpPr txBox="1"/>
          <p:nvPr/>
        </p:nvSpPr>
        <p:spPr>
          <a:xfrm>
            <a:off x="456236" y="416689"/>
            <a:ext cx="105156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Requisitos / IEEE</a:t>
            </a:r>
            <a:endParaRPr b="0" i="0" sz="4400" u="none" cap="none" strike="noStrike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621575" y="1636800"/>
            <a:ext cx="51663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ESPECIFICACIÓN DE REQUISITOS DE SOFTWARE.docx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4650" y="1919563"/>
            <a:ext cx="6199275" cy="24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189" name="Google Shape;1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2026-04-02T19:51:55Z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D34F996FA48242A3A50BD3BB41B8B7B0_12</vt:lpwstr>
  </property>
  <property fmtid="{D5CDD505-2E9C-101B-9397-08002B2CF9AE}" pid="3" name="KSOProductBuildVer">
    <vt:lpwstr>2058-12.2.0.23196</vt:lpwstr>
  </property>
</Properties>
</file>