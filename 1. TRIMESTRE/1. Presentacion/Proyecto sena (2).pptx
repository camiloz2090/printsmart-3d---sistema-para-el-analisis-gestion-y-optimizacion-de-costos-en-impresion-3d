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3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</p:sldIdLst>
  <p:sldSz cy="6858000" cx="12192000"/>
  <p:notesSz cx="6858000" cy="9144000"/>
  <p:embeddedFontLst>
    <p:embeddedFont>
      <p:font typeface="Work Sans Medium"/>
      <p:regular r:id="rId18"/>
      <p:bold r:id="rId19"/>
      <p:italic r:id="rId20"/>
      <p:boldItalic r:id="rId21"/>
    </p:embeddedFont>
    <p:embeddedFont>
      <p:font typeface="Work Sans Light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WorkSansMedium-italic.fntdata"/><Relationship Id="rId22" Type="http://schemas.openxmlformats.org/officeDocument/2006/relationships/font" Target="fonts/WorkSansLight-regular.fntdata"/><Relationship Id="rId21" Type="http://schemas.openxmlformats.org/officeDocument/2006/relationships/font" Target="fonts/WorkSansMedium-boldItalic.fntdata"/><Relationship Id="rId24" Type="http://schemas.openxmlformats.org/officeDocument/2006/relationships/font" Target="fonts/WorkSansLight-italic.fntdata"/><Relationship Id="rId23" Type="http://schemas.openxmlformats.org/officeDocument/2006/relationships/font" Target="fonts/WorkSansLight-bold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5" Type="http://schemas.openxmlformats.org/officeDocument/2006/relationships/font" Target="fonts/WorkSansLight-bold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font" Target="fonts/WorkSansMedium-bold.fntdata"/><Relationship Id="rId18" Type="http://schemas.openxmlformats.org/officeDocument/2006/relationships/font" Target="fonts/WorkSansMedium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" name="Google Shape;98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" name="Google Shape;10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6" name="Google Shape;12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4" name="Google Shape;134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2" name="Google Shape;142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Diapositiva de título">
  <p:cSld name="1_Diapositiva de título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nterfaz de usuario gráfica, Texto, Aplicación&#10;&#10;Descripción generada automáticamente" id="16" name="Google Shape;16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Encabezado de sección">
  <p:cSld name="2_Encabezado de sección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atrón de fondo&#10;&#10;Descripción generada automáticamente" id="18" name="Google Shape;18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9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54859" y="303050"/>
            <a:ext cx="855785" cy="8339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Encabezado de sección">
  <p:cSld name="1_Encabezado de sección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oogle Shape;21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027833" y="317431"/>
            <a:ext cx="811391" cy="7905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seño personalizado">
  <p:cSld name="Diseño personalizado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34" name="Google Shape;34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9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9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6" name="Google Shape;46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0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2" name="Google Shape;52;p10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3" name="Google Shape;53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1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1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9" name="Google Shape;59;p11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0" name="Google Shape;60;p11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61" name="Google Shape;61;p11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2" name="Google Shape;62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3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73" name="Google Shape;73;p13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4" name="Google Shape;74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4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4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80" name="Google Shape;80;p14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81" name="Google Shape;81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15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7" name="Google Shape;87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6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6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3" name="Google Shape;93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7.png"/><Relationship Id="rId4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7.png"/><Relationship Id="rId4" Type="http://schemas.openxmlformats.org/officeDocument/2006/relationships/hyperlink" Target="http://drive.google.com/file/d/1D3334_I159TUfRmdaV4oVl_1GzXS_o13/view" TargetMode="External"/><Relationship Id="rId5" Type="http://schemas.openxmlformats.org/officeDocument/2006/relationships/image" Target="../media/image4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7.png"/><Relationship Id="rId4" Type="http://schemas.openxmlformats.org/officeDocument/2006/relationships/image" Target="../media/image3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7.png"/><Relationship Id="rId4" Type="http://schemas.openxmlformats.org/officeDocument/2006/relationships/image" Target="../media/image11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gif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7.png"/><Relationship Id="rId4" Type="http://schemas.openxmlformats.org/officeDocument/2006/relationships/image" Target="../media/image10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7.png"/><Relationship Id="rId4" Type="http://schemas.openxmlformats.org/officeDocument/2006/relationships/image" Target="../media/image8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6.png"/><Relationship Id="rId4" Type="http://schemas.openxmlformats.org/officeDocument/2006/relationships/hyperlink" Target="https://docs.google.com/document/d/14bi5Di5P21oaj4p4VwTvuztFw58GtIF6/edit#heading=h.a3ya6pko70x" TargetMode="External"/><Relationship Id="rId5" Type="http://schemas.openxmlformats.org/officeDocument/2006/relationships/image" Target="../media/image1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6.png"/><Relationship Id="rId4" Type="http://schemas.openxmlformats.org/officeDocument/2006/relationships/hyperlink" Target="https://drive.google.com/drive/folders/1dLMnaiJ0-08F-cBwbSTHY89-SFYl9C86?usp=drive_link" TargetMode="External"/><Relationship Id="rId5" Type="http://schemas.openxmlformats.org/officeDocument/2006/relationships/image" Target="../media/image6.png"/><Relationship Id="rId6" Type="http://schemas.openxmlformats.org/officeDocument/2006/relationships/hyperlink" Target="https://drive.google.com/drive/folders/1dLMnaiJ0-08F-cBwbSTHY89-SFYl9C86?usp=drive_link" TargetMode="Externa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6.png"/><Relationship Id="rId4" Type="http://schemas.openxmlformats.org/officeDocument/2006/relationships/hyperlink" Target="https://docs.google.com/document/d/1mdzLO2_qPOTvO7wsVzKdrwdA3sTPDccb/edit#heading=h.59j1pv92bfjs" TargetMode="External"/><Relationship Id="rId5" Type="http://schemas.openxmlformats.org/officeDocument/2006/relationships/image" Target="../media/image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7"/>
          <p:cNvSpPr txBox="1"/>
          <p:nvPr/>
        </p:nvSpPr>
        <p:spPr>
          <a:xfrm>
            <a:off x="1085996" y="2448675"/>
            <a:ext cx="6545400" cy="286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Proyectos productivo </a:t>
            </a:r>
            <a:endParaRPr b="1" i="0" sz="4000" u="none" cap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t/>
            </a:r>
            <a:endParaRPr b="1" i="0" sz="4000" u="none" cap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Yesenia Montoya Silva</a:t>
            </a:r>
            <a:endParaRPr b="1" i="0" sz="2000" u="none" cap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Eilin Jireth Martin Loaiza</a:t>
            </a:r>
            <a:endParaRPr b="1" i="0" sz="2000" u="none" cap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Jade Valentina Cupitra Largo</a:t>
            </a:r>
            <a:endParaRPr b="1" i="0" sz="2000" u="none" cap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Moises Agustin Stredel Berrocal</a:t>
            </a:r>
            <a:endParaRPr b="1" i="0" sz="2000" u="none" cap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3F3F3F"/>
                </a:solidFill>
              </a:rPr>
              <a:t>Camilo Andres Zambrano Vasquez</a:t>
            </a:r>
            <a:endParaRPr b="1" sz="2000">
              <a:solidFill>
                <a:srgbClr val="3F3F3F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8"/>
          <p:cNvSpPr txBox="1"/>
          <p:nvPr/>
        </p:nvSpPr>
        <p:spPr>
          <a:xfrm>
            <a:off x="2734343" y="2228671"/>
            <a:ext cx="6723300" cy="23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b="1" i="0" lang="en-US" sz="7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PrintSmart 3D</a:t>
            </a:r>
            <a:endParaRPr b="1" i="0" sz="5400" u="none" cap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t/>
            </a:r>
            <a:endParaRPr b="0" i="0" sz="7200" u="none" cap="none" strike="noStrike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</p:txBody>
      </p:sp>
      <p:cxnSp>
        <p:nvCxnSpPr>
          <p:cNvPr id="108" name="Google Shape;108;p18"/>
          <p:cNvCxnSpPr/>
          <p:nvPr/>
        </p:nvCxnSpPr>
        <p:spPr>
          <a:xfrm>
            <a:off x="5227899" y="3321934"/>
            <a:ext cx="1736203" cy="0"/>
          </a:xfrm>
          <a:prstGeom prst="straightConnector1">
            <a:avLst/>
          </a:prstGeom>
          <a:noFill/>
          <a:ln cap="flat" cmpd="sng" w="9525">
            <a:solidFill>
              <a:srgbClr val="38AA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09" name="Google Shape;109;p18"/>
          <p:cNvSpPr txBox="1"/>
          <p:nvPr/>
        </p:nvSpPr>
        <p:spPr>
          <a:xfrm>
            <a:off x="4168816" y="3463724"/>
            <a:ext cx="3854368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Sistema inteligente para el análisis, gestión y optimización de costos en impresión 3D.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9"/>
          <p:cNvSpPr txBox="1"/>
          <p:nvPr/>
        </p:nvSpPr>
        <p:spPr>
          <a:xfrm>
            <a:off x="305450" y="1704972"/>
            <a:ext cx="8881500" cy="7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AA00"/>
              </a:buClr>
              <a:buSzPts val="4400"/>
              <a:buFont typeface="Work Sans Light"/>
              <a:buNone/>
            </a:pPr>
            <a:r>
              <a:rPr b="0" i="0" lang="en-US" sz="4400" u="none" cap="none" strike="noStrike">
                <a:solidFill>
                  <a:srgbClr val="38AA00"/>
                </a:solidFill>
                <a:latin typeface="Arial"/>
                <a:ea typeface="Arial"/>
                <a:cs typeface="Arial"/>
                <a:sym typeface="Arial"/>
              </a:rPr>
              <a:t>Planteamiento del problema</a:t>
            </a:r>
            <a:endParaRPr b="0" i="0" sz="4400" u="none" cap="none" strike="noStrike">
              <a:solidFill>
                <a:srgbClr val="38AA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19"/>
          <p:cNvSpPr txBox="1"/>
          <p:nvPr/>
        </p:nvSpPr>
        <p:spPr>
          <a:xfrm>
            <a:off x="1373800" y="2637046"/>
            <a:ext cx="4447500" cy="26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Actualmente, en el emprendimiento PrintSmart 3D, el cálculo de costos de impresión se realiza de forma empírica, sin considerar variables como el consumo real de material, el tiempo de impresión, el gasto energético y el desgaste de los equipos.</a:t>
            </a:r>
            <a:endParaRPr b="0" i="0" sz="1600" u="none" cap="none" strike="noStrike">
              <a:solidFill>
                <a:srgbClr val="22222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22222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Además, no se cuenta con un sistema organizado para el control de inventario de filamentos, lo que genera:</a:t>
            </a:r>
            <a:endParaRPr b="0" i="0" sz="1600" u="none" cap="none" strike="noStrike">
              <a:solidFill>
                <a:srgbClr val="22222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22222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Pérdidas económicas</a:t>
            </a:r>
            <a:endParaRPr b="0" i="0" sz="1600" u="none" cap="none" strike="noStrike">
              <a:solidFill>
                <a:srgbClr val="22222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Falta de control del stock</a:t>
            </a:r>
            <a:endParaRPr b="0" i="0" sz="1600" u="none" cap="none" strike="noStrike">
              <a:solidFill>
                <a:srgbClr val="22222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Dificultad en la gestión de pedidos</a:t>
            </a:r>
            <a:endParaRPr b="0" i="0" sz="1600" u="none" cap="none" strike="noStrike">
              <a:solidFill>
                <a:srgbClr val="22222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6" name="Google Shape;116;p19"/>
          <p:cNvPicPr preferRelativeResize="0"/>
          <p:nvPr/>
        </p:nvPicPr>
        <p:blipFill rotWithShape="1">
          <a:blip r:embed="rId4">
            <a:alphaModFix/>
          </a:blip>
          <a:srcRect b="8925" l="4537" r="4719" t="0"/>
          <a:stretch/>
        </p:blipFill>
        <p:spPr>
          <a:xfrm>
            <a:off x="7791855" y="1657215"/>
            <a:ext cx="4005175" cy="43289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0"/>
          <p:cNvSpPr txBox="1"/>
          <p:nvPr/>
        </p:nvSpPr>
        <p:spPr>
          <a:xfrm>
            <a:off x="956475" y="1935850"/>
            <a:ext cx="5004900" cy="7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AA00"/>
              </a:buClr>
              <a:buSzPts val="4400"/>
              <a:buFont typeface="Work Sans Light"/>
              <a:buNone/>
            </a:pPr>
            <a:r>
              <a:rPr b="0" i="0" lang="en-US" sz="4400" u="none" cap="none" strike="noStrike">
                <a:solidFill>
                  <a:srgbClr val="38AA00"/>
                </a:solidFill>
                <a:latin typeface="Arial"/>
                <a:ea typeface="Arial"/>
                <a:cs typeface="Arial"/>
                <a:sym typeface="Arial"/>
              </a:rPr>
              <a:t>Pregunta problema</a:t>
            </a:r>
            <a:endParaRPr b="0" i="0" sz="4400" u="none" cap="none" strike="noStrike">
              <a:solidFill>
                <a:srgbClr val="38AA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20"/>
          <p:cNvSpPr txBox="1"/>
          <p:nvPr/>
        </p:nvSpPr>
        <p:spPr>
          <a:xfrm>
            <a:off x="1174441" y="2926122"/>
            <a:ext cx="4447500" cy="132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¿De qué manera se puede desarrollar un sistema de información que permita gestionar el control de inventario, calcular costos y optimizar los procesos de producción</a:t>
            </a: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en un negocio de impresión 3D</a:t>
            </a: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?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3" name="Google Shape;123;p20" title="VID-20260304-WA0011.mp4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45000" y="1091175"/>
            <a:ext cx="5846996" cy="5766816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1"/>
          <p:cNvSpPr txBox="1"/>
          <p:nvPr/>
        </p:nvSpPr>
        <p:spPr>
          <a:xfrm>
            <a:off x="820827" y="2074435"/>
            <a:ext cx="4620900" cy="6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AA00"/>
              </a:buClr>
              <a:buSzPts val="4400"/>
              <a:buFont typeface="Work Sans Light"/>
              <a:buNone/>
            </a:pPr>
            <a:r>
              <a:rPr b="0" i="0" lang="en-US" sz="4400" u="none" cap="none" strike="noStrike">
                <a:solidFill>
                  <a:srgbClr val="38AA00"/>
                </a:solidFill>
                <a:latin typeface="Arial"/>
                <a:ea typeface="Arial"/>
                <a:cs typeface="Arial"/>
                <a:sym typeface="Arial"/>
              </a:rPr>
              <a:t>Objetivo general</a:t>
            </a:r>
            <a:endParaRPr b="0" i="0" sz="4400" u="none" cap="none" strike="noStrike">
              <a:solidFill>
                <a:srgbClr val="38AA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21"/>
          <p:cNvSpPr txBox="1"/>
          <p:nvPr/>
        </p:nvSpPr>
        <p:spPr>
          <a:xfrm>
            <a:off x="958768" y="2993800"/>
            <a:ext cx="3854400" cy="15671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Desarrollar una solución informática que permita gestionar el inventario de materiales, calcular los costos de producción y administrar los pedidos  de impresión 3D.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1" name="Google Shape;131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25264" y="1410511"/>
            <a:ext cx="6798123" cy="40369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2"/>
          <p:cNvSpPr txBox="1"/>
          <p:nvPr/>
        </p:nvSpPr>
        <p:spPr>
          <a:xfrm>
            <a:off x="1031008" y="1159059"/>
            <a:ext cx="6128550" cy="6765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AA00"/>
              </a:buClr>
              <a:buSzPts val="4400"/>
              <a:buFont typeface="Work Sans Light"/>
              <a:buNone/>
            </a:pPr>
            <a:r>
              <a:rPr b="0" i="0" lang="en-US" sz="4400" u="none" cap="none" strike="noStrike">
                <a:solidFill>
                  <a:srgbClr val="38AA00"/>
                </a:solidFill>
                <a:latin typeface="Arial"/>
                <a:ea typeface="Arial"/>
                <a:cs typeface="Arial"/>
                <a:sym typeface="Arial"/>
              </a:rPr>
              <a:t>Objetivos específicos</a:t>
            </a:r>
            <a:endParaRPr b="0" i="0" sz="4400" u="none" cap="none" strike="noStrike">
              <a:solidFill>
                <a:srgbClr val="38AA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22"/>
          <p:cNvSpPr txBox="1"/>
          <p:nvPr/>
        </p:nvSpPr>
        <p:spPr>
          <a:xfrm>
            <a:off x="1569990" y="2101142"/>
            <a:ext cx="4447500" cy="35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Implementar autenticación y control de acceso de usuarios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84150" lvl="0" marL="3873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Diseñar </a:t>
            </a:r>
            <a:r>
              <a:rPr lang="en-US" sz="1600">
                <a:solidFill>
                  <a:schemeClr val="dk1"/>
                </a:solidFill>
              </a:rPr>
              <a:t>el </a:t>
            </a: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registro y control del inventario de materiales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841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Gestionar los pedidos de impresión 3D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841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Calcular los costos de producción de manera automática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841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Generar reportes de producción, costos e inventario.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Específicos :: Escuela de Valores EMFA" id="139" name="Google Shape;139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905719" y="1231641"/>
            <a:ext cx="4776306" cy="46711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3"/>
          <p:cNvSpPr txBox="1"/>
          <p:nvPr/>
        </p:nvSpPr>
        <p:spPr>
          <a:xfrm>
            <a:off x="407670" y="764540"/>
            <a:ext cx="3327400" cy="77901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Módulo 1: Gestión de Usuarios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Registro de usuarios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Inicio de sesión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Cierre de sesión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Roles (Administrador / Operador)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Módulo 2: Inventario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Registrar filamentos (tipo, color, peso, precio)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Actualizar stock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Control de entradas y salidas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Alertas de bajo inventario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Módulo 3:  Pedidos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Registrar modelos 3D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Crear pedidos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Asociar material al pedido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Estado del pedido (pendiente, en proceso, terminado)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6" name="Google Shape;146;p23"/>
          <p:cNvPicPr preferRelativeResize="0"/>
          <p:nvPr/>
        </p:nvPicPr>
        <p:blipFill rotWithShape="1">
          <a:blip r:embed="rId3">
            <a:alphaModFix/>
          </a:blip>
          <a:srcRect b="6995" l="44735" r="0" t="-6995"/>
          <a:stretch/>
        </p:blipFill>
        <p:spPr>
          <a:xfrm>
            <a:off x="4439920" y="1124585"/>
            <a:ext cx="3034030" cy="368935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23"/>
          <p:cNvSpPr txBox="1"/>
          <p:nvPr/>
        </p:nvSpPr>
        <p:spPr>
          <a:xfrm>
            <a:off x="7967980" y="1628775"/>
            <a:ext cx="3327400" cy="29641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Módulo 4: Cálculo de Costos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Cálculo automático basado en: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Material usado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Tiempo de impresión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Consumo energético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Generación de precio final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Módulo 5: Reporte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01600" lvl="0" marL="0" marR="0" rtl="0" algn="l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Reporte de inventario 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016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Reporte de costos 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016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Reporte de producción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4"/>
          <p:cNvSpPr txBox="1"/>
          <p:nvPr/>
        </p:nvSpPr>
        <p:spPr>
          <a:xfrm>
            <a:off x="1171198" y="1687456"/>
            <a:ext cx="5959813" cy="7787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AA00"/>
              </a:buClr>
              <a:buSzPts val="4400"/>
              <a:buFont typeface="Work Sans Light"/>
              <a:buNone/>
            </a:pPr>
            <a:r>
              <a:rPr b="0" i="0" lang="en-US" sz="4400" u="none" cap="none" strike="noStrike">
                <a:solidFill>
                  <a:srgbClr val="38AA00"/>
                </a:solidFill>
                <a:latin typeface="Arial"/>
                <a:ea typeface="Arial"/>
                <a:cs typeface="Arial"/>
                <a:sym typeface="Arial"/>
              </a:rPr>
              <a:t>Justificación</a:t>
            </a:r>
            <a:endParaRPr b="0" i="0" sz="4400" u="none" cap="none" strike="noStrike">
              <a:solidFill>
                <a:srgbClr val="38AA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24"/>
          <p:cNvSpPr txBox="1"/>
          <p:nvPr/>
        </p:nvSpPr>
        <p:spPr>
          <a:xfrm>
            <a:off x="879369" y="2615682"/>
            <a:ext cx="4334700" cy="25520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 sistema PrintSmart 3D permitirá optimizar la gestión del negocio mediante el control automatizado del inventario, el cálculo preciso de costos y la organización de los pedidos.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Esto reducirá pérdidas económicas, mejorará la toma de decisiones y aumentará la eficiencia operativa.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4" name="Google Shape;154;p24"/>
          <p:cNvPicPr preferRelativeResize="0"/>
          <p:nvPr/>
        </p:nvPicPr>
        <p:blipFill rotWithShape="1">
          <a:blip r:embed="rId4">
            <a:alphaModFix/>
          </a:blip>
          <a:srcRect b="27302" l="25820" r="29188" t="11690"/>
          <a:stretch/>
        </p:blipFill>
        <p:spPr>
          <a:xfrm>
            <a:off x="6306206" y="2076855"/>
            <a:ext cx="5580007" cy="33859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Google Shape;159;p25"/>
          <p:cNvPicPr preferRelativeResize="0"/>
          <p:nvPr/>
        </p:nvPicPr>
        <p:blipFill rotWithShape="1">
          <a:blip r:embed="rId4">
            <a:alphaModFix/>
          </a:blip>
          <a:srcRect b="7132" l="16436" r="35931" t="1058"/>
          <a:stretch/>
        </p:blipFill>
        <p:spPr>
          <a:xfrm>
            <a:off x="6145685" y="1242463"/>
            <a:ext cx="5619542" cy="4847052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25"/>
          <p:cNvSpPr txBox="1"/>
          <p:nvPr/>
        </p:nvSpPr>
        <p:spPr>
          <a:xfrm>
            <a:off x="594273" y="2065870"/>
            <a:ext cx="5959800" cy="7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AA00"/>
              </a:buClr>
              <a:buSzPts val="4400"/>
              <a:buFont typeface="Work Sans Light"/>
              <a:buNone/>
            </a:pPr>
            <a:r>
              <a:rPr b="0" i="0" lang="en-US" sz="4400" u="none" cap="none" strike="noStrike">
                <a:solidFill>
                  <a:srgbClr val="38AA00"/>
                </a:solidFill>
                <a:latin typeface="Arial"/>
                <a:ea typeface="Arial"/>
                <a:cs typeface="Arial"/>
                <a:sym typeface="Arial"/>
              </a:rPr>
              <a:t>Alcance del proyecto</a:t>
            </a:r>
            <a:endParaRPr b="0" i="0" sz="4400" u="none" cap="none" strike="noStrike">
              <a:solidFill>
                <a:srgbClr val="38AA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25"/>
          <p:cNvSpPr txBox="1"/>
          <p:nvPr/>
        </p:nvSpPr>
        <p:spPr>
          <a:xfrm>
            <a:off x="923520" y="3127390"/>
            <a:ext cx="4093200" cy="1813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 sistema permitirá: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Gestión básica de usuarios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Control de inventario de materiales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Registro de pedidos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Cálculo automático de costos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6"/>
          <p:cNvSpPr txBox="1"/>
          <p:nvPr/>
        </p:nvSpPr>
        <p:spPr>
          <a:xfrm>
            <a:off x="456236" y="416689"/>
            <a:ext cx="10515600" cy="741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Work Sans Medium"/>
              <a:buNone/>
            </a:pPr>
            <a:r>
              <a:rPr b="0" i="0" lang="en-US" sz="4400" u="none" cap="none" strike="noStrike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 Recolección de información</a:t>
            </a:r>
            <a:endParaRPr b="0" i="0" sz="4400" u="none" cap="none" strike="noStrike">
              <a:solidFill>
                <a:schemeClr val="lt1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</p:txBody>
      </p:sp>
      <p:sp>
        <p:nvSpPr>
          <p:cNvPr id="167" name="Google Shape;167;p26"/>
          <p:cNvSpPr txBox="1"/>
          <p:nvPr/>
        </p:nvSpPr>
        <p:spPr>
          <a:xfrm>
            <a:off x="911650" y="1730025"/>
            <a:ext cx="61431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Entrevista.docx</a:t>
            </a:r>
            <a:endParaRPr b="0" i="0" sz="3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8" name="Google Shape;168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87875" y="1994377"/>
            <a:ext cx="4832451" cy="32216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7"/>
          <p:cNvSpPr txBox="1"/>
          <p:nvPr/>
        </p:nvSpPr>
        <p:spPr>
          <a:xfrm>
            <a:off x="456236" y="416689"/>
            <a:ext cx="10515600" cy="74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Work Sans Medium"/>
              <a:buNone/>
            </a:pPr>
            <a:r>
              <a:rPr b="0" i="0" lang="en-US" sz="4400" u="none" cap="none" strike="noStrike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Diagrama BPMN</a:t>
            </a:r>
            <a:endParaRPr b="0" i="0" sz="4400" u="none" cap="none" strike="noStrike">
              <a:solidFill>
                <a:schemeClr val="lt1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</p:txBody>
      </p:sp>
      <p:sp>
        <p:nvSpPr>
          <p:cNvPr id="174" name="Google Shape;174;p27">
            <a:hlinkClick r:id="rId4"/>
          </p:cNvPr>
          <p:cNvSpPr txBox="1"/>
          <p:nvPr/>
        </p:nvSpPr>
        <p:spPr>
          <a:xfrm>
            <a:off x="165775" y="1543550"/>
            <a:ext cx="61431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t/>
            </a:r>
            <a:endParaRPr b="0" i="0" sz="3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5" name="Google Shape;175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57575" y="1429046"/>
            <a:ext cx="4116550" cy="3601975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27"/>
          <p:cNvSpPr txBox="1"/>
          <p:nvPr/>
        </p:nvSpPr>
        <p:spPr>
          <a:xfrm>
            <a:off x="4288825" y="3190700"/>
            <a:ext cx="41853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None/>
            </a:pPr>
            <a:r>
              <a:t/>
            </a:r>
            <a:endParaRPr b="0" i="0" sz="3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27"/>
          <p:cNvSpPr txBox="1"/>
          <p:nvPr/>
        </p:nvSpPr>
        <p:spPr>
          <a:xfrm>
            <a:off x="839100" y="1491750"/>
            <a:ext cx="4668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6"/>
              </a:rPr>
              <a:t>Diagrama</a:t>
            </a:r>
            <a:endParaRPr b="0" i="0" sz="3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8"/>
          <p:cNvSpPr txBox="1"/>
          <p:nvPr/>
        </p:nvSpPr>
        <p:spPr>
          <a:xfrm>
            <a:off x="456236" y="416689"/>
            <a:ext cx="10515600" cy="74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Work Sans Medium"/>
              <a:buNone/>
            </a:pPr>
            <a:r>
              <a:rPr b="0" i="0" lang="en-US" sz="4400" u="none" cap="none" strike="noStrike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Requisitos / IEEE</a:t>
            </a:r>
            <a:endParaRPr b="0" i="0" sz="4400" u="none" cap="none" strike="noStrike">
              <a:solidFill>
                <a:schemeClr val="lt1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</p:txBody>
      </p:sp>
      <p:sp>
        <p:nvSpPr>
          <p:cNvPr id="183" name="Google Shape;183;p28"/>
          <p:cNvSpPr txBox="1"/>
          <p:nvPr/>
        </p:nvSpPr>
        <p:spPr>
          <a:xfrm>
            <a:off x="621575" y="1636800"/>
            <a:ext cx="51663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0" i="0" lang="en-US" sz="34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ESPECIFICACIÓN DE REQUISITOS DE SOFTWARE.docx</a:t>
            </a:r>
            <a:endParaRPr b="0" i="0" sz="3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4" name="Google Shape;184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664650" y="1919563"/>
            <a:ext cx="6199275" cy="2434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n que contiene Interfaz de usuario gráfica&#10;&#10;Descripción generada automáticamente" id="189" name="Google Shape;189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